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52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A2E5C"/>
                </a:solidFill>
                <a:latin typeface="Malgun Gothic"/>
              </a:rPr>
              <a:t>전체 요구사항 및 개발 진행 내역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089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444444"/>
                </a:solidFill>
                <a:latin typeface="Malgun Gothic"/>
              </a:rPr>
              <a:t>Windows SFTP Download Client PoC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B5FAD"/>
                </a:solidFill>
                <a:latin typeface="Malgun Gothic"/>
              </a:rPr>
              <a:t>2026-07-29  |  v1.0  |  소스/솔루션 구성 완료 · VS 빌드 검증 대기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44444"/>
                </a:solidFill>
                <a:latin typeface="Malgun Gothic"/>
              </a:rPr>
              <a:t>전체 요구사항 및 개발 진행 내역  |  1/11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A2E5C"/>
                </a:solidFill>
                <a:latin typeface="Malgun Gothic"/>
              </a:rPr>
              <a:t>1. 프로젝트 목적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algun Gothic"/>
              </a:rPr>
              <a:t>Linux SFTP 서버 → Windows 로컬로 사전 지정 파일 자동 다운로드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algun Gothic"/>
              </a:rPr>
              <a:t>파일 개수: config.ini 기준 1~20개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algun Gothic"/>
              </a:rPr>
              <a:t>사용자 조작 없음 (GUI / 목록 조회 / 업로드 / 선택 없음)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algun Gothic"/>
              </a:rPr>
              <a:t>배포: Client.exe + config.ini (+ LICENSE), 목표 DLL 없음 · 10MB 미만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algun Gothic"/>
              </a:rPr>
              <a:t>고객 PC Runtime·별도 SW 설치 금지 → /MT 정적 CRT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algun Gothic"/>
              </a:rPr>
              <a:t>Visual Studio 미설치 PC에서도 실행 가능해야 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44444"/>
                </a:solidFill>
                <a:latin typeface="Malgun Gothic"/>
              </a:rPr>
              <a:t>전체 요구사항 및 개발 진행 내역  |  2/11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A2E5C"/>
                </a:solidFill>
                <a:latin typeface="Malgun Gothic"/>
              </a:rPr>
              <a:t>2. 개발 환경 · 배포 조건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97280"/>
            <a:ext cx="5486400" cy="484632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15875">
            <a:solidFill>
              <a:srgbClr val="C5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234439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B5FAD"/>
                </a:solidFill>
                <a:latin typeface="Malgun Gothic"/>
              </a:rPr>
              <a:t>개발 환경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>언어: C++ Console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>IDE: VS2015 (v140) ※ VS2008→상향 확정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>플랫폼: Windows 10/11 x64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>제품에 C#/.NET/Python/Java/Node 금지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>CRT: /MT (Runtime 미설치 지원)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97280"/>
            <a:ext cx="5394960" cy="484632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15875">
            <a:solidFill>
              <a:srgbClr val="C5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234439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B5FAD"/>
                </a:solidFill>
                <a:latin typeface="Malgun Gothic"/>
              </a:rPr>
              <a:t>배포 조건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00200"/>
            <a:ext cx="5029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>정적 링크 우선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>불가 시 필요 DLL만 동폴더 배포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>목표: Client.exe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>         config.ini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>         LICENSE_libssh2.txt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>설계: libssh2+WinCNG → DLL 없음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44444"/>
                </a:solidFill>
                <a:latin typeface="Malgun Gothic"/>
              </a:rPr>
              <a:t>전체 요구사항 및 개발 진행 내역  |  3/11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A2E5C"/>
                </a:solidFill>
                <a:latin typeface="Malgun Gothic"/>
              </a:rPr>
              <a:t>3. 기능 요구사항 — 12단계 자동 흐름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algun Gothic"/>
              </a:rPr>
              <a:t>1) config.ini 읽기  →  2) TCP/SSH 연결  →  3) Host Key 수신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algun Gothic"/>
              </a:rPr>
              <a:t>4) SHA-256 Fingerprint 계산  →  5) 설정값 비교 (불일치/미등록 시 종료)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algun Gothic"/>
              </a:rPr>
              <a:t>6) ID/PW 인증  →  7) SFTP 세션 시작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algun Gothic"/>
              </a:rPr>
              <a:t>8) RemoteFile 존재 확인  →  9) LocalFile 다운로드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algun Gothic"/>
              </a:rPr>
              <a:t>10) 성공 검증  →  11) 연결 정상 종료  →  12) 프로그램 종료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algun Gothic"/>
              </a:rPr>
              <a:t>파일 키: RemoteFile/LocalFile 또는 RemoteFileN/LocalFileN (1~20)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44444"/>
                </a:solidFill>
                <a:latin typeface="Malgun Gothic"/>
              </a:rPr>
              <a:t>전체 요구사항 및 개발 진행 내역  |  4/11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A2E5C"/>
                </a:solidFill>
                <a:latin typeface="Malgun Gothic"/>
              </a:rPr>
              <a:t>4. 보안 · 오류 처리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97280"/>
            <a:ext cx="5486400" cy="484632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15875">
            <a:solidFill>
              <a:srgbClr val="C5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234439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B55A00"/>
                </a:solidFill>
                <a:latin typeface="Malgun Gothic"/>
              </a:rPr>
              <a:t>보안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512064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 dirty="0">
                <a:solidFill>
                  <a:srgbClr val="1A1A1A"/>
                </a:solidFill>
                <a:latin typeface="Malgun Gothic"/>
              </a:rPr>
              <a:t>SSH/SFTP </a:t>
            </a:r>
            <a:r>
              <a:rPr sz="1300" b="0" dirty="0" err="1">
                <a:solidFill>
                  <a:srgbClr val="1A1A1A"/>
                </a:solidFill>
                <a:latin typeface="Malgun Gothic"/>
              </a:rPr>
              <a:t>직접</a:t>
            </a:r>
            <a:r>
              <a:rPr sz="1300" b="0" dirty="0">
                <a:solidFill>
                  <a:srgbClr val="1A1A1A"/>
                </a:solidFill>
                <a:latin typeface="Malgun Gothic"/>
              </a:rPr>
              <a:t> </a:t>
            </a:r>
            <a:r>
              <a:rPr sz="1300" b="0" dirty="0" err="1">
                <a:solidFill>
                  <a:srgbClr val="1A1A1A"/>
                </a:solidFill>
                <a:latin typeface="Malgun Gothic"/>
              </a:rPr>
              <a:t>구현</a:t>
            </a:r>
            <a:r>
              <a:rPr sz="1300" b="0" dirty="0">
                <a:solidFill>
                  <a:srgbClr val="1A1A1A"/>
                </a:solidFill>
                <a:latin typeface="Malgun Gothic"/>
              </a:rPr>
              <a:t> </a:t>
            </a:r>
            <a:r>
              <a:rPr sz="1300" b="0" dirty="0" err="1">
                <a:solidFill>
                  <a:srgbClr val="1A1A1A"/>
                </a:solidFill>
                <a:latin typeface="Malgun Gothic"/>
              </a:rPr>
              <a:t>금지</a:t>
            </a:r>
            <a:endParaRPr sz="1300" b="0" dirty="0">
              <a:solidFill>
                <a:srgbClr val="1A1A1A"/>
              </a:solidFill>
              <a:latin typeface="Malgun Gothic"/>
            </a:endParaRPr>
          </a:p>
          <a:p>
            <a:pPr>
              <a:spcAft>
                <a:spcPts val="300"/>
              </a:spcAft>
            </a:pPr>
            <a:r>
              <a:rPr sz="1300" b="0" dirty="0" err="1">
                <a:solidFill>
                  <a:srgbClr val="1A1A1A"/>
                </a:solidFill>
                <a:latin typeface="Malgun Gothic"/>
              </a:rPr>
              <a:t>검증된</a:t>
            </a:r>
            <a:r>
              <a:rPr sz="1300" b="0" dirty="0">
                <a:solidFill>
                  <a:srgbClr val="1A1A1A"/>
                </a:solidFill>
                <a:latin typeface="Malgun Gothic"/>
              </a:rPr>
              <a:t> </a:t>
            </a:r>
            <a:r>
              <a:rPr sz="1300" b="0" dirty="0" err="1">
                <a:solidFill>
                  <a:srgbClr val="1A1A1A"/>
                </a:solidFill>
                <a:latin typeface="Malgun Gothic"/>
              </a:rPr>
              <a:t>라이브러리</a:t>
            </a:r>
            <a:r>
              <a:rPr sz="1300" b="0" dirty="0">
                <a:solidFill>
                  <a:srgbClr val="1A1A1A"/>
                </a:solidFill>
                <a:latin typeface="Malgun Gothic"/>
              </a:rPr>
              <a:t> </a:t>
            </a:r>
            <a:r>
              <a:rPr sz="1300" b="0" dirty="0" err="1">
                <a:solidFill>
                  <a:srgbClr val="1A1A1A"/>
                </a:solidFill>
                <a:latin typeface="Malgun Gothic"/>
              </a:rPr>
              <a:t>사용</a:t>
            </a:r>
            <a:endParaRPr sz="1300" b="0" dirty="0">
              <a:solidFill>
                <a:srgbClr val="1A1A1A"/>
              </a:solidFill>
              <a:latin typeface="Malgun Gothic"/>
            </a:endParaRPr>
          </a:p>
          <a:p>
            <a:pPr>
              <a:spcAft>
                <a:spcPts val="300"/>
              </a:spcAft>
            </a:pPr>
            <a:r>
              <a:rPr sz="1300" b="0" dirty="0">
                <a:solidFill>
                  <a:srgbClr val="1A1A1A"/>
                </a:solidFill>
                <a:latin typeface="Malgun Gothic"/>
              </a:rPr>
              <a:t>Host Key </a:t>
            </a:r>
            <a:r>
              <a:rPr sz="1300" b="0" dirty="0" err="1">
                <a:solidFill>
                  <a:srgbClr val="1A1A1A"/>
                </a:solidFill>
                <a:latin typeface="Malgun Gothic"/>
              </a:rPr>
              <a:t>검증</a:t>
            </a:r>
            <a:r>
              <a:rPr lang="en-US" altLang="ko-KR" sz="1400" dirty="0" err="1"/>
              <a:t>SSH</a:t>
            </a:r>
            <a:r>
              <a:rPr lang="en-US" altLang="ko-KR" sz="1400" dirty="0"/>
              <a:t> Host Key </a:t>
            </a:r>
            <a:r>
              <a:rPr lang="ko-KR" altLang="en-US" sz="1400" dirty="0"/>
              <a:t>검증</a:t>
            </a:r>
            <a:endParaRPr lang="en-US" altLang="ko-KR" sz="1400" dirty="0"/>
          </a:p>
          <a:p>
            <a:pPr>
              <a:spcAft>
                <a:spcPts val="300"/>
              </a:spcAft>
            </a:pPr>
            <a:r>
              <a:rPr sz="1300" b="0" dirty="0">
                <a:solidFill>
                  <a:srgbClr val="1A1A1A"/>
                </a:solidFill>
                <a:latin typeface="Malgun Gothic"/>
              </a:rPr>
              <a:t>Fingerprint </a:t>
            </a:r>
            <a:r>
              <a:rPr sz="1300" b="0" dirty="0" err="1">
                <a:solidFill>
                  <a:srgbClr val="1A1A1A"/>
                </a:solidFill>
                <a:latin typeface="Malgun Gothic"/>
              </a:rPr>
              <a:t>불일치</a:t>
            </a:r>
            <a:r>
              <a:rPr sz="1300" b="0" dirty="0">
                <a:solidFill>
                  <a:srgbClr val="1A1A1A"/>
                </a:solidFill>
                <a:latin typeface="Malgun Gothic"/>
              </a:rPr>
              <a:t> → </a:t>
            </a:r>
            <a:r>
              <a:rPr sz="1300" b="0" dirty="0" err="1">
                <a:solidFill>
                  <a:srgbClr val="1A1A1A"/>
                </a:solidFill>
                <a:latin typeface="Malgun Gothic"/>
              </a:rPr>
              <a:t>즉시</a:t>
            </a:r>
            <a:r>
              <a:rPr sz="1300" b="0" dirty="0">
                <a:solidFill>
                  <a:srgbClr val="1A1A1A"/>
                </a:solidFill>
                <a:latin typeface="Malgun Gothic"/>
              </a:rPr>
              <a:t> </a:t>
            </a:r>
            <a:r>
              <a:rPr sz="1300" b="0" dirty="0" err="1">
                <a:solidFill>
                  <a:srgbClr val="1A1A1A"/>
                </a:solidFill>
                <a:latin typeface="Malgun Gothic"/>
              </a:rPr>
              <a:t>종료</a:t>
            </a:r>
            <a:endParaRPr sz="1300" b="0" dirty="0">
              <a:solidFill>
                <a:srgbClr val="1A1A1A"/>
              </a:solidFill>
              <a:latin typeface="Malgun Gothic"/>
            </a:endParaRPr>
          </a:p>
          <a:p>
            <a:pPr>
              <a:spcAft>
                <a:spcPts val="300"/>
              </a:spcAft>
            </a:pPr>
            <a:r>
              <a:rPr sz="1300" b="0" dirty="0" err="1">
                <a:solidFill>
                  <a:srgbClr val="1A1A1A"/>
                </a:solidFill>
                <a:latin typeface="Malgun Gothic"/>
              </a:rPr>
              <a:t>미등록</a:t>
            </a:r>
            <a:r>
              <a:rPr sz="1300" b="0" dirty="0">
                <a:solidFill>
                  <a:srgbClr val="1A1A1A"/>
                </a:solidFill>
                <a:latin typeface="Malgun Gothic"/>
              </a:rPr>
              <a:t> → </a:t>
            </a:r>
            <a:r>
              <a:rPr sz="1300" b="0" dirty="0" err="1">
                <a:solidFill>
                  <a:srgbClr val="1A1A1A"/>
                </a:solidFill>
                <a:latin typeface="Malgun Gothic"/>
              </a:rPr>
              <a:t>연결</a:t>
            </a:r>
            <a:r>
              <a:rPr sz="1300" b="0" dirty="0">
                <a:solidFill>
                  <a:srgbClr val="1A1A1A"/>
                </a:solidFill>
                <a:latin typeface="Malgun Gothic"/>
              </a:rPr>
              <a:t> </a:t>
            </a:r>
            <a:r>
              <a:rPr sz="1300" b="0" dirty="0" err="1">
                <a:solidFill>
                  <a:srgbClr val="1A1A1A"/>
                </a:solidFill>
                <a:latin typeface="Malgun Gothic"/>
              </a:rPr>
              <a:t>금지</a:t>
            </a:r>
            <a:endParaRPr sz="1300" b="0" dirty="0">
              <a:solidFill>
                <a:srgbClr val="1A1A1A"/>
              </a:solidFill>
              <a:latin typeface="Malgun Gothic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17920" y="1097280"/>
            <a:ext cx="5394960" cy="484632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15875">
            <a:solidFill>
              <a:srgbClr val="C5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234439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B5FAD"/>
                </a:solidFill>
                <a:latin typeface="Malgun Gothic"/>
              </a:rPr>
              <a:t>콘솔 오류 메시지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00200"/>
            <a:ext cx="5029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>서버 연결 실패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>Host Key 불일치 / 미등록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>로그인 실패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>RemoteFile 없음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>LocalFile 생성 실패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>다운로드 실패 / 성공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44444"/>
                </a:solidFill>
                <a:latin typeface="Malgun Gothic"/>
              </a:rPr>
              <a:t>전체 요구사항 및 개발 진행 내역  |  5/11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A2E5C"/>
                </a:solidFill>
                <a:latin typeface="Malgun Gothic"/>
              </a:rPr>
              <a:t>5. 라이브러리 선정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algun Gothic"/>
              </a:rPr>
              <a:t>선정: libssh2 1.11.1 + WinCNG (정적 링크) — BSD-3-Clause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algun Gothic"/>
              </a:rPr>
              <a:t>이유: 정적 링크, OpenSSL DLL 불필요, SHA256 Host Key API, VS2015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algun Gothic"/>
              </a:rPr>
              <a:t>제외: libssh(LGPL), libcurl(의존성↑), OpenSSH 바이너리 호출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algun Gothic"/>
              </a:rPr>
              <a:t>제한: Ed25519 host key 미지원 → 서버 RSA/ECDSA 필요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algun Gothic"/>
              </a:rPr>
              <a:t>PoC: LIBSSH2_ECDSA_WINCNG 활성화 (Windows 10/11)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44444"/>
                </a:solidFill>
                <a:latin typeface="Malgun Gothic"/>
              </a:rPr>
              <a:t>전체 요구사항 및 개발 진행 내역  |  6/11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A2E5C"/>
                </a:solidFill>
                <a:latin typeface="Malgun Gothic"/>
              </a:rPr>
              <a:t>6. 개발 진행 타임라인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5568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dirty="0">
                <a:solidFill>
                  <a:srgbClr val="1A1A1A"/>
                </a:solidFill>
                <a:latin typeface="Malgun Gothic"/>
              </a:rPr>
              <a:t>1. </a:t>
            </a:r>
            <a:r>
              <a:rPr sz="1600" b="0" dirty="0" err="1">
                <a:solidFill>
                  <a:srgbClr val="1A1A1A"/>
                </a:solidFill>
                <a:latin typeface="Malgun Gothic"/>
              </a:rPr>
              <a:t>요구</a:t>
            </a:r>
            <a:r>
              <a:rPr sz="1600" b="0" dirty="0">
                <a:solidFill>
                  <a:srgbClr val="1A1A1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Malgun Gothic"/>
              </a:rPr>
              <a:t>분석·라이브러리</a:t>
            </a:r>
            <a:r>
              <a:rPr sz="1600" b="0" dirty="0">
                <a:solidFill>
                  <a:srgbClr val="1A1A1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Malgun Gothic"/>
              </a:rPr>
              <a:t>선정</a:t>
            </a:r>
            <a:r>
              <a:rPr sz="1600" b="0" dirty="0">
                <a:solidFill>
                  <a:srgbClr val="1A1A1A"/>
                </a:solidFill>
                <a:latin typeface="Malgun Gothic"/>
              </a:rPr>
              <a:t> → libssh2+WinCNG </a:t>
            </a:r>
            <a:r>
              <a:rPr sz="1600" b="0" dirty="0" err="1">
                <a:solidFill>
                  <a:srgbClr val="1A1A1A"/>
                </a:solidFill>
                <a:latin typeface="Malgun Gothic"/>
              </a:rPr>
              <a:t>제안</a:t>
            </a:r>
            <a:endParaRPr sz="1600" b="0" dirty="0">
              <a:solidFill>
                <a:srgbClr val="1A1A1A"/>
              </a:solidFill>
              <a:latin typeface="Malgun Gothic"/>
            </a:endParaRPr>
          </a:p>
          <a:p>
            <a:pPr>
              <a:spcAft>
                <a:spcPts val="600"/>
              </a:spcAft>
            </a:pPr>
            <a:r>
              <a:rPr sz="1600" b="0" dirty="0">
                <a:solidFill>
                  <a:srgbClr val="1A1A1A"/>
                </a:solidFill>
                <a:latin typeface="Malgun Gothic"/>
              </a:rPr>
              <a:t>2. IDE </a:t>
            </a:r>
            <a:r>
              <a:rPr sz="1600" b="0" dirty="0" err="1">
                <a:solidFill>
                  <a:srgbClr val="1A1A1A"/>
                </a:solidFill>
                <a:latin typeface="Malgun Gothic"/>
              </a:rPr>
              <a:t>상향</a:t>
            </a:r>
            <a:r>
              <a:rPr sz="1600" b="0" dirty="0">
                <a:solidFill>
                  <a:srgbClr val="1A1A1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Malgun Gothic"/>
              </a:rPr>
              <a:t>협의</a:t>
            </a:r>
            <a:r>
              <a:rPr sz="1600" b="0" dirty="0">
                <a:solidFill>
                  <a:srgbClr val="1A1A1A"/>
                </a:solidFill>
                <a:latin typeface="Malgun Gothic"/>
              </a:rPr>
              <a:t> → VS2015 </a:t>
            </a:r>
            <a:r>
              <a:rPr sz="1600" b="0" dirty="0" err="1">
                <a:solidFill>
                  <a:srgbClr val="1A1A1A"/>
                </a:solidFill>
                <a:latin typeface="Malgun Gothic"/>
              </a:rPr>
              <a:t>확정</a:t>
            </a:r>
            <a:endParaRPr sz="1600" b="0" dirty="0">
              <a:solidFill>
                <a:srgbClr val="1A1A1A"/>
              </a:solidFill>
              <a:latin typeface="Malgun Gothic"/>
            </a:endParaRPr>
          </a:p>
          <a:p>
            <a:pPr>
              <a:spcAft>
                <a:spcPts val="600"/>
              </a:spcAft>
            </a:pPr>
            <a:r>
              <a:rPr sz="1600" b="0" dirty="0">
                <a:solidFill>
                  <a:srgbClr val="1A1A1A"/>
                </a:solidFill>
                <a:latin typeface="Malgun Gothic"/>
              </a:rPr>
              <a:t>3. </a:t>
            </a:r>
            <a:r>
              <a:rPr sz="1600" b="0" dirty="0" err="1">
                <a:solidFill>
                  <a:srgbClr val="1A1A1A"/>
                </a:solidFill>
                <a:latin typeface="Malgun Gothic"/>
              </a:rPr>
              <a:t>파일</a:t>
            </a:r>
            <a:r>
              <a:rPr sz="1600" b="0" dirty="0">
                <a:solidFill>
                  <a:srgbClr val="1A1A1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Malgun Gothic"/>
              </a:rPr>
              <a:t>개수</a:t>
            </a:r>
            <a:r>
              <a:rPr sz="1600" b="0" dirty="0">
                <a:solidFill>
                  <a:srgbClr val="1A1A1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Malgun Gothic"/>
              </a:rPr>
              <a:t>협의</a:t>
            </a:r>
            <a:r>
              <a:rPr sz="1600" b="0" dirty="0">
                <a:solidFill>
                  <a:srgbClr val="1A1A1A"/>
                </a:solidFill>
                <a:latin typeface="Malgun Gothic"/>
              </a:rPr>
              <a:t> → 1~20개 </a:t>
            </a:r>
            <a:r>
              <a:rPr sz="1600" b="0" dirty="0" err="1">
                <a:solidFill>
                  <a:srgbClr val="1A1A1A"/>
                </a:solidFill>
                <a:latin typeface="Malgun Gothic"/>
              </a:rPr>
              <a:t>확정</a:t>
            </a:r>
            <a:endParaRPr sz="1600" b="0" dirty="0">
              <a:solidFill>
                <a:srgbClr val="1A1A1A"/>
              </a:solidFill>
              <a:latin typeface="Malgun Gothic"/>
            </a:endParaRPr>
          </a:p>
          <a:p>
            <a:pPr>
              <a:spcAft>
                <a:spcPts val="600"/>
              </a:spcAft>
            </a:pPr>
            <a:r>
              <a:rPr sz="1600" b="0" dirty="0">
                <a:solidFill>
                  <a:srgbClr val="1A1A1A"/>
                </a:solidFill>
                <a:latin typeface="Malgun Gothic"/>
              </a:rPr>
              <a:t>4. </a:t>
            </a:r>
            <a:r>
              <a:rPr sz="1600" b="0" dirty="0" err="1">
                <a:solidFill>
                  <a:srgbClr val="1A1A1A"/>
                </a:solidFill>
                <a:latin typeface="Malgun Gothic"/>
              </a:rPr>
              <a:t>라이브러리</a:t>
            </a:r>
            <a:r>
              <a:rPr sz="1600" b="0" dirty="0">
                <a:solidFill>
                  <a:srgbClr val="1A1A1A"/>
                </a:solidFill>
                <a:latin typeface="Malgun Gothic"/>
              </a:rPr>
              <a:t>/</a:t>
            </a:r>
            <a:r>
              <a:rPr sz="1600" b="0" dirty="0" err="1">
                <a:solidFill>
                  <a:srgbClr val="1A1A1A"/>
                </a:solidFill>
                <a:latin typeface="Malgun Gothic"/>
              </a:rPr>
              <a:t>빌드</a:t>
            </a:r>
            <a:r>
              <a:rPr sz="1600" b="0" dirty="0">
                <a:solidFill>
                  <a:srgbClr val="1A1A1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Malgun Gothic"/>
              </a:rPr>
              <a:t>승인</a:t>
            </a:r>
            <a:r>
              <a:rPr sz="1600" b="0" dirty="0">
                <a:solidFill>
                  <a:srgbClr val="1A1A1A"/>
                </a:solidFill>
                <a:latin typeface="Malgun Gothic"/>
              </a:rPr>
              <a:t> → </a:t>
            </a:r>
            <a:r>
              <a:rPr sz="1600" b="0" dirty="0" err="1">
                <a:solidFill>
                  <a:srgbClr val="1A1A1A"/>
                </a:solidFill>
                <a:latin typeface="Malgun Gothic"/>
              </a:rPr>
              <a:t>구현</a:t>
            </a:r>
            <a:r>
              <a:rPr sz="1600" b="0" dirty="0">
                <a:solidFill>
                  <a:srgbClr val="1A1A1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Malgun Gothic"/>
              </a:rPr>
              <a:t>착수</a:t>
            </a:r>
            <a:endParaRPr sz="1600" b="0" dirty="0">
              <a:solidFill>
                <a:srgbClr val="1A1A1A"/>
              </a:solidFill>
              <a:latin typeface="Malgun Gothic"/>
            </a:endParaRPr>
          </a:p>
          <a:p>
            <a:pPr>
              <a:spcAft>
                <a:spcPts val="600"/>
              </a:spcAft>
            </a:pPr>
            <a:r>
              <a:rPr sz="1600" b="0" dirty="0">
                <a:solidFill>
                  <a:srgbClr val="1A1A1A"/>
                </a:solidFill>
                <a:latin typeface="Malgun Gothic"/>
              </a:rPr>
              <a:t>5~7. libssh2 vendor · </a:t>
            </a:r>
            <a:r>
              <a:rPr sz="1600" b="0" dirty="0" err="1">
                <a:solidFill>
                  <a:srgbClr val="1A1A1A"/>
                </a:solidFill>
                <a:latin typeface="Malgun Gothic"/>
              </a:rPr>
              <a:t>솔루션</a:t>
            </a:r>
            <a:r>
              <a:rPr sz="1600" b="0" dirty="0">
                <a:solidFill>
                  <a:srgbClr val="1A1A1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Malgun Gothic"/>
              </a:rPr>
              <a:t>생성</a:t>
            </a:r>
            <a:r>
              <a:rPr sz="1600" b="0" dirty="0">
                <a:solidFill>
                  <a:srgbClr val="1A1A1A"/>
                </a:solidFill>
                <a:latin typeface="Malgun Gothic"/>
              </a:rPr>
              <a:t> · Client </a:t>
            </a:r>
            <a:r>
              <a:rPr sz="1600" b="0" dirty="0" err="1">
                <a:solidFill>
                  <a:srgbClr val="1A1A1A"/>
                </a:solidFill>
                <a:latin typeface="Malgun Gothic"/>
              </a:rPr>
              <a:t>소스</a:t>
            </a:r>
            <a:r>
              <a:rPr sz="1600" b="0" dirty="0">
                <a:solidFill>
                  <a:srgbClr val="1A1A1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Malgun Gothic"/>
              </a:rPr>
              <a:t>구현</a:t>
            </a:r>
            <a:endParaRPr sz="1600" b="0" dirty="0">
              <a:solidFill>
                <a:srgbClr val="1A1A1A"/>
              </a:solidFill>
              <a:latin typeface="Malgun Gothi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44444"/>
                </a:solidFill>
                <a:latin typeface="Malgun Gothic"/>
              </a:rPr>
              <a:t>전체 요구사항 및 개발 진행 내역  |  7/11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A2E5C"/>
                </a:solidFill>
                <a:latin typeface="Malgun Gothic"/>
              </a:rPr>
              <a:t>7. 구현 모듈 · 빌드 설정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97280"/>
            <a:ext cx="5486400" cy="484632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15875">
            <a:solidFill>
              <a:srgbClr val="C5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234439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B5FAD"/>
                </a:solidFill>
                <a:latin typeface="Malgun Gothic"/>
              </a:rPr>
              <a:t>구현 모듈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 dirty="0">
                <a:solidFill>
                  <a:srgbClr val="1A1A1A"/>
                </a:solidFill>
                <a:latin typeface="Malgun Gothic"/>
              </a:rPr>
              <a:t>Config — </a:t>
            </a:r>
            <a:r>
              <a:rPr sz="1300" b="0" dirty="0" err="1">
                <a:solidFill>
                  <a:srgbClr val="1A1A1A"/>
                </a:solidFill>
                <a:latin typeface="Malgun Gothic"/>
              </a:rPr>
              <a:t>ini</a:t>
            </a:r>
            <a:r>
              <a:rPr sz="1300" b="0" dirty="0">
                <a:solidFill>
                  <a:srgbClr val="1A1A1A"/>
                </a:solidFill>
                <a:latin typeface="Malgun Gothic"/>
              </a:rPr>
              <a:t> </a:t>
            </a:r>
            <a:r>
              <a:rPr sz="1300" b="0" dirty="0" err="1">
                <a:solidFill>
                  <a:srgbClr val="1A1A1A"/>
                </a:solidFill>
                <a:latin typeface="Malgun Gothic"/>
              </a:rPr>
              <a:t>파싱</a:t>
            </a:r>
            <a:r>
              <a:rPr sz="1300" b="0" dirty="0">
                <a:solidFill>
                  <a:srgbClr val="1A1A1A"/>
                </a:solidFill>
                <a:latin typeface="Malgun Gothic"/>
              </a:rPr>
              <a:t>/</a:t>
            </a:r>
            <a:r>
              <a:rPr sz="1300" b="0" dirty="0" err="1">
                <a:solidFill>
                  <a:srgbClr val="1A1A1A"/>
                </a:solidFill>
                <a:latin typeface="Malgun Gothic"/>
              </a:rPr>
              <a:t>검증</a:t>
            </a:r>
            <a:endParaRPr sz="1300" b="0" dirty="0">
              <a:solidFill>
                <a:srgbClr val="1A1A1A"/>
              </a:solidFill>
              <a:latin typeface="Malgun Gothic"/>
            </a:endParaRPr>
          </a:p>
          <a:p>
            <a:pPr>
              <a:spcAft>
                <a:spcPts val="300"/>
              </a:spcAft>
            </a:pPr>
            <a:r>
              <a:rPr sz="1300" b="0" dirty="0">
                <a:solidFill>
                  <a:srgbClr val="1A1A1A"/>
                </a:solidFill>
                <a:latin typeface="Malgun Gothic"/>
              </a:rPr>
              <a:t>Fingerprint — SHA256 </a:t>
            </a:r>
            <a:r>
              <a:rPr sz="1300" b="0" dirty="0" err="1">
                <a:solidFill>
                  <a:srgbClr val="1A1A1A"/>
                </a:solidFill>
                <a:latin typeface="Malgun Gothic"/>
              </a:rPr>
              <a:t>비교</a:t>
            </a:r>
            <a:endParaRPr sz="1300" b="0" dirty="0">
              <a:solidFill>
                <a:srgbClr val="1A1A1A"/>
              </a:solidFill>
              <a:latin typeface="Malgun Gothic"/>
            </a:endParaRPr>
          </a:p>
          <a:p>
            <a:pPr>
              <a:spcAft>
                <a:spcPts val="300"/>
              </a:spcAft>
            </a:pPr>
            <a:r>
              <a:rPr sz="1300" b="0" dirty="0" err="1">
                <a:solidFill>
                  <a:srgbClr val="1A1A1A"/>
                </a:solidFill>
                <a:latin typeface="Malgun Gothic"/>
              </a:rPr>
              <a:t>SftpClient</a:t>
            </a:r>
            <a:r>
              <a:rPr sz="1300" b="0" dirty="0">
                <a:solidFill>
                  <a:srgbClr val="1A1A1A"/>
                </a:solidFill>
                <a:latin typeface="Malgun Gothic"/>
              </a:rPr>
              <a:t> — </a:t>
            </a:r>
            <a:r>
              <a:rPr sz="1300" b="0" dirty="0" err="1">
                <a:solidFill>
                  <a:srgbClr val="1A1A1A"/>
                </a:solidFill>
                <a:latin typeface="Malgun Gothic"/>
              </a:rPr>
              <a:t>연결·인증·다운로드</a:t>
            </a:r>
            <a:endParaRPr sz="1300" b="0" dirty="0">
              <a:solidFill>
                <a:srgbClr val="1A1A1A"/>
              </a:solidFill>
              <a:latin typeface="Malgun Gothic"/>
            </a:endParaRPr>
          </a:p>
          <a:p>
            <a:pPr>
              <a:spcAft>
                <a:spcPts val="300"/>
              </a:spcAft>
            </a:pPr>
            <a:r>
              <a:rPr lang="en-US" altLang="ko-KR" sz="1300" b="0" dirty="0" err="1">
                <a:solidFill>
                  <a:srgbClr val="1A1A1A"/>
                </a:solidFill>
                <a:latin typeface="Malgun Gothic"/>
              </a:rPr>
              <a:t>Util</a:t>
            </a:r>
            <a:r>
              <a:rPr lang="ko-KR" altLang="en-US" sz="1300" b="0" dirty="0">
                <a:solidFill>
                  <a:srgbClr val="1A1A1A"/>
                </a:solidFill>
                <a:latin typeface="Malgun Gothic"/>
              </a:rPr>
              <a:t> </a:t>
            </a:r>
            <a:r>
              <a:rPr lang="en-US" altLang="ko-KR" sz="1300" b="0" dirty="0">
                <a:solidFill>
                  <a:srgbClr val="1A1A1A"/>
                </a:solidFill>
                <a:latin typeface="Malgun Gothic"/>
              </a:rPr>
              <a:t>— </a:t>
            </a:r>
            <a:r>
              <a:rPr lang="ko-KR" altLang="en-US" sz="1300" b="0" dirty="0">
                <a:solidFill>
                  <a:srgbClr val="1A1A1A"/>
                </a:solidFill>
                <a:latin typeface="Malgun Gothic"/>
              </a:rPr>
              <a:t>경로</a:t>
            </a:r>
            <a:r>
              <a:rPr lang="en-US" altLang="ko-KR" sz="1300" b="0" dirty="0">
                <a:solidFill>
                  <a:srgbClr val="1A1A1A"/>
                </a:solidFill>
                <a:latin typeface="Malgun Gothic"/>
              </a:rPr>
              <a:t>/</a:t>
            </a:r>
            <a:r>
              <a:rPr lang="ko-KR" altLang="en-US" sz="1300" b="0" dirty="0">
                <a:solidFill>
                  <a:srgbClr val="1A1A1A"/>
                </a:solidFill>
                <a:latin typeface="Malgun Gothic"/>
              </a:rPr>
              <a:t>디렉터리 </a:t>
            </a:r>
            <a:r>
              <a:rPr lang="ko-KR" altLang="en-US" sz="1300" b="0" dirty="0" err="1">
                <a:solidFill>
                  <a:srgbClr val="1A1A1A"/>
                </a:solidFill>
                <a:latin typeface="Malgun Gothic"/>
              </a:rPr>
              <a:t>유틸</a:t>
            </a:r>
            <a:endParaRPr lang="ko-KR" altLang="en-US" sz="1300" b="0" dirty="0">
              <a:solidFill>
                <a:srgbClr val="1A1A1A"/>
              </a:solidFill>
              <a:latin typeface="Malgun Gothic"/>
            </a:endParaRPr>
          </a:p>
          <a:p>
            <a:pPr>
              <a:spcAft>
                <a:spcPts val="300"/>
              </a:spcAft>
            </a:pPr>
            <a:r>
              <a:rPr sz="1300" b="0" dirty="0">
                <a:solidFill>
                  <a:srgbClr val="1A1A1A"/>
                </a:solidFill>
                <a:latin typeface="Malgun Gothic"/>
              </a:rPr>
              <a:t>libssh2 </a:t>
            </a:r>
            <a:r>
              <a:rPr sz="1300" b="0" dirty="0" err="1">
                <a:solidFill>
                  <a:srgbClr val="1A1A1A"/>
                </a:solidFill>
                <a:latin typeface="Malgun Gothic"/>
              </a:rPr>
              <a:t>프로젝트</a:t>
            </a:r>
            <a:r>
              <a:rPr sz="1300" b="0" dirty="0">
                <a:solidFill>
                  <a:srgbClr val="1A1A1A"/>
                </a:solidFill>
                <a:latin typeface="Malgun Gothic"/>
              </a:rPr>
              <a:t> — </a:t>
            </a:r>
            <a:r>
              <a:rPr sz="1300" b="0" dirty="0" err="1">
                <a:solidFill>
                  <a:srgbClr val="1A1A1A"/>
                </a:solidFill>
                <a:latin typeface="Malgun Gothic"/>
              </a:rPr>
              <a:t>WinCNG</a:t>
            </a:r>
            <a:r>
              <a:rPr sz="1300" b="0" dirty="0">
                <a:solidFill>
                  <a:srgbClr val="1A1A1A"/>
                </a:solidFill>
                <a:latin typeface="Malgun Gothic"/>
              </a:rPr>
              <a:t> </a:t>
            </a:r>
            <a:r>
              <a:rPr sz="1300" b="0" dirty="0" err="1">
                <a:solidFill>
                  <a:srgbClr val="1A1A1A"/>
                </a:solidFill>
                <a:latin typeface="Malgun Gothic"/>
              </a:rPr>
              <a:t>정적</a:t>
            </a:r>
            <a:r>
              <a:rPr sz="1300" b="0" dirty="0">
                <a:solidFill>
                  <a:srgbClr val="1A1A1A"/>
                </a:solidFill>
                <a:latin typeface="Malgun Gothic"/>
              </a:rPr>
              <a:t> lib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97280"/>
            <a:ext cx="5394960" cy="484632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15875">
            <a:solidFill>
              <a:srgbClr val="C5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234439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B5FAD"/>
                </a:solidFill>
                <a:latin typeface="Malgun Gothic"/>
              </a:rPr>
              <a:t>빌드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00200"/>
            <a:ext cx="5029200" cy="3039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 dirty="0">
                <a:solidFill>
                  <a:srgbClr val="1A1A1A"/>
                </a:solidFill>
                <a:latin typeface="Malgun Gothic"/>
              </a:rPr>
              <a:t>Release|x64 / Toolset v140</a:t>
            </a:r>
          </a:p>
          <a:p>
            <a:pPr>
              <a:spcAft>
                <a:spcPts val="300"/>
              </a:spcAft>
            </a:pPr>
            <a:r>
              <a:rPr sz="1300" b="0" dirty="0">
                <a:solidFill>
                  <a:srgbClr val="1A1A1A"/>
                </a:solidFill>
                <a:latin typeface="Malgun Gothic"/>
              </a:rPr>
              <a:t>Runtime: /MT (/</a:t>
            </a:r>
            <a:r>
              <a:rPr sz="1300" b="0" dirty="0" err="1">
                <a:solidFill>
                  <a:srgbClr val="1A1A1A"/>
                </a:solidFill>
                <a:latin typeface="Malgun Gothic"/>
              </a:rPr>
              <a:t>MTd</a:t>
            </a:r>
            <a:r>
              <a:rPr sz="1300" b="0" dirty="0">
                <a:solidFill>
                  <a:srgbClr val="1A1A1A"/>
                </a:solidFill>
                <a:latin typeface="Malgun Gothic"/>
              </a:rPr>
              <a:t> Debug)</a:t>
            </a:r>
            <a:endParaRPr lang="en-US" altLang="ko-KR" sz="1300" b="0" dirty="0">
              <a:solidFill>
                <a:srgbClr val="1A1A1A"/>
              </a:solidFill>
              <a:latin typeface="Malgun Gothic"/>
            </a:endParaRPr>
          </a:p>
          <a:p>
            <a:pPr>
              <a:spcAft>
                <a:spcPts val="300"/>
              </a:spcAft>
            </a:pPr>
            <a:endParaRPr sz="1300" b="0" dirty="0">
              <a:solidFill>
                <a:srgbClr val="1A1A1A"/>
              </a:solidFill>
              <a:latin typeface="Malgun Gothic"/>
            </a:endParaRPr>
          </a:p>
          <a:p>
            <a:pPr>
              <a:spcAft>
                <a:spcPts val="300"/>
              </a:spcAft>
            </a:pPr>
            <a:r>
              <a:rPr sz="1300" b="0" dirty="0" err="1">
                <a:solidFill>
                  <a:srgbClr val="1A1A1A"/>
                </a:solidFill>
                <a:latin typeface="Malgun Gothic"/>
              </a:rPr>
              <a:t>링크</a:t>
            </a:r>
            <a:r>
              <a:rPr sz="1300" b="0" dirty="0">
                <a:solidFill>
                  <a:srgbClr val="1A1A1A"/>
                </a:solidFill>
                <a:latin typeface="Malgun Gothic"/>
              </a:rPr>
              <a:t>: </a:t>
            </a:r>
            <a:endParaRPr lang="en-US" altLang="ko-KR" sz="1300" b="0" dirty="0">
              <a:solidFill>
                <a:srgbClr val="1A1A1A"/>
              </a:solidFill>
              <a:latin typeface="Malgun Gothic"/>
            </a:endParaRPr>
          </a:p>
          <a:p>
            <a:pPr>
              <a:spcAft>
                <a:spcPts val="300"/>
              </a:spcAft>
            </a:pPr>
            <a:r>
              <a:rPr lang="en-US" altLang="ko-KR" sz="1300" dirty="0">
                <a:solidFill>
                  <a:srgbClr val="1A1A1A"/>
                </a:solidFill>
                <a:latin typeface="Malgun Gothic"/>
              </a:rPr>
              <a:t>crypt.dll	Windows CNG </a:t>
            </a:r>
            <a:r>
              <a:rPr lang="ko-KR" altLang="en-US" sz="1300" dirty="0">
                <a:solidFill>
                  <a:srgbClr val="1A1A1A"/>
                </a:solidFill>
                <a:latin typeface="Malgun Gothic"/>
              </a:rPr>
              <a:t>암호화 </a:t>
            </a:r>
            <a:r>
              <a:rPr lang="en-US" altLang="ko-KR" sz="1300" dirty="0">
                <a:solidFill>
                  <a:srgbClr val="1A1A1A"/>
                </a:solidFill>
                <a:latin typeface="Malgun Gothic"/>
              </a:rPr>
              <a:t>API	✅	SHA-256, AES, RSA/ECC </a:t>
            </a:r>
            <a:r>
              <a:rPr lang="ko-KR" altLang="en-US" sz="1300" dirty="0">
                <a:solidFill>
                  <a:srgbClr val="1A1A1A"/>
                </a:solidFill>
                <a:latin typeface="Malgun Gothic"/>
              </a:rPr>
              <a:t>등 연산에 사용 가능</a:t>
            </a:r>
            <a:endParaRPr lang="en-US" altLang="ko-KR" sz="1300" dirty="0">
              <a:solidFill>
                <a:srgbClr val="1A1A1A"/>
              </a:solidFill>
              <a:latin typeface="Malgun Gothic"/>
            </a:endParaRPr>
          </a:p>
          <a:p>
            <a:pPr>
              <a:spcAft>
                <a:spcPts val="300"/>
              </a:spcAft>
            </a:pPr>
            <a:endParaRPr lang="ko-KR" altLang="en-US" sz="1300" dirty="0">
              <a:solidFill>
                <a:srgbClr val="1A1A1A"/>
              </a:solidFill>
              <a:latin typeface="Malgun Gothic"/>
            </a:endParaRPr>
          </a:p>
          <a:p>
            <a:pPr>
              <a:spcAft>
                <a:spcPts val="300"/>
              </a:spcAft>
            </a:pPr>
            <a:r>
              <a:rPr lang="en-US" altLang="ko-KR" sz="1300" dirty="0">
                <a:solidFill>
                  <a:srgbClr val="1A1A1A"/>
                </a:solidFill>
                <a:latin typeface="Malgun Gothic"/>
              </a:rPr>
              <a:t>crypt32.dll	</a:t>
            </a:r>
            <a:r>
              <a:rPr lang="ko-KR" altLang="en-US" sz="1300" dirty="0">
                <a:solidFill>
                  <a:srgbClr val="1A1A1A"/>
                </a:solidFill>
                <a:latin typeface="Malgun Gothic"/>
              </a:rPr>
              <a:t>인증서</a:t>
            </a:r>
            <a:r>
              <a:rPr lang="en-US" altLang="ko-KR" sz="1300" dirty="0">
                <a:solidFill>
                  <a:srgbClr val="1A1A1A"/>
                </a:solidFill>
                <a:latin typeface="Malgun Gothic"/>
              </a:rPr>
              <a:t>/</a:t>
            </a:r>
            <a:r>
              <a:rPr lang="ko-KR" altLang="en-US" sz="1300" dirty="0">
                <a:solidFill>
                  <a:srgbClr val="1A1A1A"/>
                </a:solidFill>
                <a:latin typeface="Malgun Gothic"/>
              </a:rPr>
              <a:t>암호화 객체 관리 </a:t>
            </a:r>
            <a:r>
              <a:rPr lang="en-US" altLang="ko-KR" sz="1300" dirty="0">
                <a:solidFill>
                  <a:srgbClr val="1A1A1A"/>
                </a:solidFill>
                <a:latin typeface="Malgun Gothic"/>
              </a:rPr>
              <a:t>API	△	</a:t>
            </a:r>
            <a:r>
              <a:rPr lang="ko-KR" altLang="en-US" sz="1300" dirty="0">
                <a:solidFill>
                  <a:srgbClr val="1A1A1A"/>
                </a:solidFill>
                <a:latin typeface="Malgun Gothic"/>
              </a:rPr>
              <a:t>인증서</a:t>
            </a:r>
            <a:r>
              <a:rPr lang="en-US" altLang="ko-KR" sz="1300" dirty="0">
                <a:solidFill>
                  <a:srgbClr val="1A1A1A"/>
                </a:solidFill>
                <a:latin typeface="Malgun Gothic"/>
              </a:rPr>
              <a:t>, </a:t>
            </a:r>
            <a:r>
              <a:rPr lang="ko-KR" altLang="en-US" sz="1300" dirty="0">
                <a:solidFill>
                  <a:srgbClr val="1A1A1A"/>
                </a:solidFill>
                <a:latin typeface="Malgun Gothic"/>
              </a:rPr>
              <a:t>키 인코딩</a:t>
            </a:r>
            <a:r>
              <a:rPr lang="en-US" altLang="ko-KR" sz="1300" dirty="0">
                <a:solidFill>
                  <a:srgbClr val="1A1A1A"/>
                </a:solidFill>
                <a:latin typeface="Malgun Gothic"/>
              </a:rPr>
              <a:t>/</a:t>
            </a:r>
            <a:r>
              <a:rPr lang="ko-KR" altLang="en-US" sz="1300" dirty="0">
                <a:solidFill>
                  <a:srgbClr val="1A1A1A"/>
                </a:solidFill>
                <a:latin typeface="Malgun Gothic"/>
              </a:rPr>
              <a:t>디코딩</a:t>
            </a:r>
            <a:r>
              <a:rPr lang="en-US" altLang="ko-KR" sz="1300" dirty="0">
                <a:solidFill>
                  <a:srgbClr val="1A1A1A"/>
                </a:solidFill>
                <a:latin typeface="Malgun Gothic"/>
              </a:rPr>
              <a:t>, </a:t>
            </a:r>
            <a:r>
              <a:rPr lang="ko-KR" altLang="en-US" sz="1300" dirty="0">
                <a:solidFill>
                  <a:srgbClr val="1A1A1A"/>
                </a:solidFill>
                <a:latin typeface="Malgun Gothic"/>
              </a:rPr>
              <a:t>체인 검증 등</a:t>
            </a:r>
            <a:endParaRPr lang="en-US" altLang="ko-KR" sz="1300" dirty="0">
              <a:solidFill>
                <a:srgbClr val="1A1A1A"/>
              </a:solidFill>
              <a:latin typeface="Malgun Gothic"/>
            </a:endParaRPr>
          </a:p>
          <a:p>
            <a:pPr>
              <a:spcAft>
                <a:spcPts val="300"/>
              </a:spcAft>
            </a:pPr>
            <a:endParaRPr lang="ko-KR" altLang="en-US" sz="1300" dirty="0">
              <a:solidFill>
                <a:srgbClr val="1A1A1A"/>
              </a:solidFill>
              <a:latin typeface="Malgun Gothic"/>
            </a:endParaRPr>
          </a:p>
          <a:p>
            <a:pPr>
              <a:spcAft>
                <a:spcPts val="300"/>
              </a:spcAft>
            </a:pPr>
            <a:r>
              <a:rPr lang="en-US" altLang="ko-KR" sz="1300" dirty="0">
                <a:solidFill>
                  <a:srgbClr val="1A1A1A"/>
                </a:solidFill>
                <a:latin typeface="Malgun Gothic"/>
              </a:rPr>
              <a:t>SFTP/SSH </a:t>
            </a:r>
            <a:r>
              <a:rPr lang="ko-KR" altLang="en-US" sz="1300" dirty="0">
                <a:solidFill>
                  <a:srgbClr val="1A1A1A"/>
                </a:solidFill>
                <a:latin typeface="Malgun Gothic"/>
              </a:rPr>
              <a:t>라이브러리	</a:t>
            </a:r>
            <a:r>
              <a:rPr lang="en-US" altLang="ko-KR" sz="1300" dirty="0">
                <a:solidFill>
                  <a:srgbClr val="1A1A1A"/>
                </a:solidFill>
                <a:latin typeface="Malgun Gothic"/>
              </a:rPr>
              <a:t>SSH </a:t>
            </a:r>
            <a:r>
              <a:rPr lang="ko-KR" altLang="en-US" sz="1300" dirty="0">
                <a:solidFill>
                  <a:srgbClr val="1A1A1A"/>
                </a:solidFill>
                <a:latin typeface="Malgun Gothic"/>
              </a:rPr>
              <a:t>프로토콜 구현	✅ 핵심	암호화 협상</a:t>
            </a:r>
            <a:r>
              <a:rPr lang="en-US" altLang="ko-KR" sz="1300" dirty="0">
                <a:solidFill>
                  <a:srgbClr val="1A1A1A"/>
                </a:solidFill>
                <a:latin typeface="Malgun Gothic"/>
              </a:rPr>
              <a:t>, Host Key </a:t>
            </a:r>
            <a:r>
              <a:rPr lang="ko-KR" altLang="en-US" sz="1300" dirty="0">
                <a:solidFill>
                  <a:srgbClr val="1A1A1A"/>
                </a:solidFill>
                <a:latin typeface="Malgun Gothic"/>
              </a:rPr>
              <a:t>검증</a:t>
            </a:r>
            <a:r>
              <a:rPr lang="en-US" altLang="ko-KR" sz="1300" dirty="0">
                <a:solidFill>
                  <a:srgbClr val="1A1A1A"/>
                </a:solidFill>
                <a:latin typeface="Malgun Gothic"/>
              </a:rPr>
              <a:t>, SFTP </a:t>
            </a:r>
            <a:r>
              <a:rPr lang="ko-KR" altLang="en-US" sz="1300" dirty="0">
                <a:solidFill>
                  <a:srgbClr val="1A1A1A"/>
                </a:solidFill>
                <a:latin typeface="Malgun Gothic"/>
              </a:rPr>
              <a:t>처리</a:t>
            </a:r>
            <a:endParaRPr lang="en-US" altLang="ko-KR" sz="1300" dirty="0">
              <a:solidFill>
                <a:srgbClr val="1A1A1A"/>
              </a:solidFill>
              <a:latin typeface="Malgun Gothic"/>
            </a:endParaRPr>
          </a:p>
          <a:p>
            <a:pPr>
              <a:spcAft>
                <a:spcPts val="300"/>
              </a:spcAft>
            </a:pPr>
            <a:endParaRPr lang="en-US" altLang="ko-KR" sz="1300" dirty="0">
              <a:solidFill>
                <a:srgbClr val="1A1A1A"/>
              </a:solidFill>
              <a:latin typeface="Malgun Gothi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44444"/>
                </a:solidFill>
                <a:latin typeface="Malgun Gothic"/>
              </a:rPr>
              <a:t>전체 요구사항 및 개발 진행 내역  |  8/11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A2E5C"/>
                </a:solidFill>
                <a:latin typeface="Malgun Gothic"/>
              </a:rPr>
              <a:t>8. 솔루션 / 디렉터리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algun Gothic"/>
              </a:rPr>
              <a:t>SftpClient.sln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algun Gothic"/>
              </a:rPr>
              <a:t>  · Client\ — Console 앱 소스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algun Gothic"/>
              </a:rPr>
              <a:t>  · libssh2\ — 정적 라이브러리 프로젝트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algun Gothic"/>
              </a:rPr>
              <a:t>third_party\libssh2-1.11.1 — vendor 소스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algun Gothic"/>
              </a:rPr>
              <a:t>dist\ — Client.exe, config.ini, LICENSE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algun Gothic"/>
              </a:rPr>
              <a:t>docs\ — 요구사항 MD, 서버운용 MD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algun Gothic"/>
              </a:rPr>
              <a:t>scripts\build.bat, BUILD.txt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44444"/>
                </a:solidFill>
                <a:latin typeface="Malgun Gothic"/>
              </a:rPr>
              <a:t>전체 요구사항 및 개발 진행 내역  |  9/11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A2E5C"/>
                </a:solidFill>
                <a:latin typeface="Malgun Gothic"/>
              </a:rPr>
              <a:t>9. 미완료 · 다음 작업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algun Gothic"/>
              </a:rPr>
              <a:t>대기: 개발 PC에서 Release|x64 MSBuild 빌드 검증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algun Gothic"/>
              </a:rPr>
              <a:t>대기: 실제 Linux SFTP 연동 E2E 테스트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algun Gothic"/>
              </a:rPr>
              <a:t>대기: Runtime 미설치 Win10/11에서 실행 확인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algun Gothic"/>
              </a:rPr>
              <a:t>대기: 배포 패키지 용량(10MB 미만) 최종 점검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algun Gothic"/>
              </a:rPr>
              <a:t>빌드: scripts\build.bat 또는 VS에서 Release|x64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Malgun Gothic"/>
              </a:rPr>
              <a:t>Fingerprint: ssh-keygen -lf ... -E sha256 → config.ini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44444"/>
                </a:solidFill>
                <a:latin typeface="Malgun Gothic"/>
              </a:rPr>
              <a:t>전체 요구사항 및 개발 진행 내역  |  10/11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A2E5C"/>
                </a:solidFill>
                <a:latin typeface="Malgun Gothic"/>
              </a:rPr>
              <a:t>원본 / 관련 문서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0896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 b="1">
                <a:solidFill>
                  <a:srgbClr val="0B5FAD"/>
                </a:solidFill>
                <a:latin typeface="Malgun Gothic"/>
              </a:rPr>
              <a:t>docs/요구사항_및_개발진행.md</a:t>
            </a:r>
          </a:p>
          <a:p>
            <a:pPr>
              <a:spcAft>
                <a:spcPts val="500"/>
              </a:spcAft>
            </a:pPr>
            <a:r>
              <a:rPr sz="1700" b="1">
                <a:solidFill>
                  <a:srgbClr val="0B5FAD"/>
                </a:solidFill>
                <a:latin typeface="Malgun Gothic"/>
              </a:rPr>
              <a:t>docs/서버_설정_및_운용요구사항.md</a:t>
            </a:r>
          </a:p>
          <a:p>
            <a:pPr>
              <a:spcAft>
                <a:spcPts val="500"/>
              </a:spcAft>
            </a:pPr>
            <a:r>
              <a:rPr sz="1700" b="1">
                <a:solidFill>
                  <a:srgbClr val="0B5FAD"/>
                </a:solidFill>
                <a:latin typeface="Malgun Gothic"/>
              </a:rPr>
              <a:t>SFTP_PoC_개요.pptx</a:t>
            </a:r>
          </a:p>
          <a:p>
            <a:pPr>
              <a:spcAft>
                <a:spcPts val="500"/>
              </a:spcAft>
            </a:pPr>
            <a:r>
              <a:rPr sz="1700" b="1">
                <a:solidFill>
                  <a:srgbClr val="0B5FAD"/>
                </a:solidFill>
                <a:latin typeface="Malgun Gothic"/>
              </a:rPr>
              <a:t>서버_설정_및_운용요구사항.pptx</a:t>
            </a:r>
          </a:p>
          <a:p>
            <a:pPr>
              <a:spcAft>
                <a:spcPts val="500"/>
              </a:spcAft>
            </a:pPr>
            <a:r>
              <a:rPr sz="1700" b="1">
                <a:solidFill>
                  <a:srgbClr val="0B5FAD"/>
                </a:solidFill>
                <a:latin typeface="Malgun Gothic"/>
              </a:rPr>
              <a:t>BUILD.txt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44444"/>
                </a:solidFill>
                <a:latin typeface="Malgun Gothic"/>
              </a:rPr>
              <a:t>전체 요구사항 및 개발 진행 내역  |  11/11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843</Words>
  <Application>Microsoft Office PowerPoint</Application>
  <PresentationFormat>와이드스크린</PresentationFormat>
  <Paragraphs>106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맑은 고딕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LPH</cp:lastModifiedBy>
  <cp:revision>5</cp:revision>
  <dcterms:created xsi:type="dcterms:W3CDTF">2013-01-27T09:14:16Z</dcterms:created>
  <dcterms:modified xsi:type="dcterms:W3CDTF">2026-07-29T09:29:32Z</dcterms:modified>
  <cp:category/>
</cp:coreProperties>
</file>